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4230a11c0d447d" /><Relationship Type="http://schemas.openxmlformats.org/officeDocument/2006/relationships/extended-properties" Target="/docProps/app.xml" Id="R22379caffbd8475b" /><Relationship Type="http://schemas.openxmlformats.org/officeDocument/2006/relationships/officeDocument" Target="/ppt/presentation.xml" Id="Rc9e77f9eaa374e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e768f5c47940be"/>
  </p:sldMasterIdLst>
  <p:notesMasterIdLst>
    <p:notesMasterId xmlns:r="http://schemas.openxmlformats.org/officeDocument/2006/relationships" r:id="Raedc7be6c21b45c1"/>
  </p:notesMasterIdLst>
  <p:sldIdLst>
    <p:sldId xmlns:r="http://schemas.openxmlformats.org/officeDocument/2006/relationships" id="256" r:id="R1e2d71ff036946f3"/>
    <p:sldId xmlns:r="http://schemas.openxmlformats.org/officeDocument/2006/relationships" id="257" r:id="R780a15508e5f4feb"/>
    <p:sldId xmlns:r="http://schemas.openxmlformats.org/officeDocument/2006/relationships" id="258" r:id="Rdd77059225bc4065"/>
    <p:sldId xmlns:r="http://schemas.openxmlformats.org/officeDocument/2006/relationships" id="259" r:id="R19836e93bdbb4e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cc7bb7902b4637" /><Relationship Type="http://schemas.openxmlformats.org/officeDocument/2006/relationships/slideMaster" Target="/ppt/slideMasters/slideMaster1.xml" Id="R78e768f5c47940be" /><Relationship Type="http://schemas.openxmlformats.org/officeDocument/2006/relationships/notesMaster" Target="/ppt/notesMasters/notesMaster1.xml" Id="Raedc7be6c21b45c1" /><Relationship Type="http://schemas.openxmlformats.org/officeDocument/2006/relationships/presProps" Target="/ppt/presProps.xml" Id="Rf1729e2a408d4ca7" /><Relationship Type="http://schemas.openxmlformats.org/officeDocument/2006/relationships/tableStyles" Target="/ppt/tableStyles.xml" Id="R09a70a652f4c43b1" /><Relationship Type="http://schemas.openxmlformats.org/officeDocument/2006/relationships/slide" Target="/ppt/slides/slide1.xml" Id="R1e2d71ff036946f3" /><Relationship Type="http://schemas.openxmlformats.org/officeDocument/2006/relationships/slide" Target="/ppt/slides/slide2.xml" Id="R780a15508e5f4feb" /><Relationship Type="http://schemas.openxmlformats.org/officeDocument/2006/relationships/slide" Target="/ppt/slides/slide3.xml" Id="Rdd77059225bc4065" /><Relationship Type="http://schemas.openxmlformats.org/officeDocument/2006/relationships/slide" Target="/ppt/slides/slide4.xml" Id="R19836e93bdbb4e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2c27368979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bddef066fd49ec" /><Relationship Type="http://schemas.openxmlformats.org/officeDocument/2006/relationships/notesMaster" Target="/ppt/notesMasters/notesMaster1.xml" Id="R70322567b84346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85cc7e733d463d" /><Relationship Type="http://schemas.openxmlformats.org/officeDocument/2006/relationships/notesMaster" Target="/ppt/notesMasters/notesMaster1.xml" Id="R62a6a7e690a945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2b9e07c24a416f" /><Relationship Type="http://schemas.openxmlformats.org/officeDocument/2006/relationships/notesMaster" Target="/ppt/notesMasters/notesMaster1.xml" Id="Re7d5f467f5254b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56fa0e0ab44a5a" /><Relationship Type="http://schemas.openxmlformats.org/officeDocument/2006/relationships/notesMaster" Target="/ppt/notesMasters/notesMaster1.xml" Id="R6e2479c49c424f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documentation: docs/current_progress_v0_7.md and docs/implementation-status.md (repository truth at Phase 180).</a:t>
            </a:r>
          </a:p>
          <a:p xmlns:a="http://schemas.openxmlformats.org/drawingml/2006/main">
            <a:r>
              <a:t>Communication design: docs/presentations/supervisor_deck_and_bibliography_design.md.</a:t>
            </a:r>
          </a:p>
          <a:p xmlns:a="http://schemas.openxmlformats.org/drawingml/2006/main">
            <a:r>
              <a:t>Literature context: Fuller et al., IEEE Access 2020, DOI 10.1109/ACCESS.2020.2998358; van der Valk et al., Computers in Industry 2022, DOI 10.1016/j.compind.2022.103716.</a:t>
            </a:r>
          </a:p>
          <a:p xmlns:a="http://schemas.openxmlformats.org/drawingml/2006/main">
            <a:r>
              <a:t>Source class: project documentation plus literature context. No slide-specific project measurement is asserted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Digital-twin loop context: Fuller et al., IEEE Access 2020, DOI 10.1109/ACCESS.2020.2998358; Jones et al., CIRP Journal of Manufacturing Science and Technology 2020, DOI 10.1016/j.cirpj.2020.02.002.</a:t>
            </a:r>
          </a:p>
          <a:p xmlns:a="http://schemas.openxmlformats.org/drawingml/2006/main">
            <a:r>
              <a:t>Transport digital-twin context: Wang et al., Transportation Research Part C 2023, DOI 10.1016/j.trc.2023.104014; Nguyen et al., Sustainable Cities and Society 2024, DOI 10.1016/j.scs.2023.104847.</a:t>
            </a:r>
          </a:p>
          <a:p xmlns:a="http://schemas.openxmlformats.org/drawingml/2006/main">
            <a:r>
              <a:t>Edge/VEC context: Shi et al., IEEE Internet of Things Journal 2016, DOI 10.1109/JIOT.2016.2579198; Mao et al., IEEE Communications Surveys &amp; Tutorials 2017, DOI 10.1109/COMST.2017.2745201.</a:t>
            </a:r>
          </a:p>
          <a:p xmlns:a="http://schemas.openxmlformats.org/drawingml/2006/main">
            <a:r>
              <a:t>Project contracts: docs/architecture.md; docs/experiment_protocol.md; docs/platform/scenario_lifecycle_integration_design.md; docs/platform/decision_safety_layer_design.md.</a:t>
            </a:r>
          </a:p>
          <a:p xmlns:a="http://schemas.openxmlformats.org/drawingml/2006/main">
            <a:r>
              <a:t>Source class: literature establishes context; project contracts establish TrafficTwin behaviour. LLM output is explicitly excluded as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measurement: docs/evaluation/capacity_confirmatory_results_20260728.md (arm means 12,027.5 and 3,716.6 ms; paired mean −8,310.9 ms; five seeds; flat deadline attainment).</a:t>
            </a:r>
          </a:p>
          <a:p xmlns:a="http://schemas.openxmlformats.org/drawingml/2006/main">
            <a:r>
              <a:t>Project audit: docs/integration/evidence/vec_pilot_keyed_action_comparison_20260728.json (0 mismatches in 8,956,800 keyed decisions for each of nine admitted pilot arm pairs).</a:t>
            </a:r>
          </a:p>
          <a:p xmlns:a="http://schemas.openxmlformats.org/drawingml/2006/main">
            <a:r>
              <a:t>Project mechanism: docs/evaluation/offload_partition_analysis_20260729.md and docs/evaluation/capacity_study_detailed_findings.md (p50, tail-mass and subgroup bounds).</a:t>
            </a:r>
          </a:p>
          <a:p xmlns:a="http://schemas.openxmlformats.org/drawingml/2006/main">
            <a:r>
              <a:t>Reporting context: Dean and Barroso, Communications of the ACM 2013, DOI 10.1145/2408776.2408794; Nosek et al., Science 2015, DOI 10.1126/science.aab2374; Gorsane et al., NeurIPS Datasets and Benchmarks 2022, DOI 10.52202/068431-0398.</a:t>
            </a:r>
          </a:p>
          <a:p xmlns:a="http://schemas.openxmlformats.org/drawingml/2006/main">
            <a:r>
              <a:t>Source class: every number is a project measurement; literature supports tail-aware and protocol-disciplined interpretation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Current repository standing: docs/implementation-status.md and docs/current_progress_v0_7.md.</a:t>
            </a:r>
          </a:p>
          <a:p xmlns:a="http://schemas.openxmlformats.org/drawingml/2006/main">
            <a:r>
              <a:t>Benchmark direction: docs/evaluation/capacity_multi_algorithm_benchmark_predeclaration_20260802.md and docs/platform/capacity_aware_benchmark_design.md.</a:t>
            </a:r>
          </a:p>
          <a:p xmlns:a="http://schemas.openxmlformats.org/drawingml/2006/main">
            <a:r>
              <a:t>Manchester Gate-D contracts: docs/integration/manchester_gate_d_integration.md and docs/open-questions.md.</a:t>
            </a:r>
          </a:p>
          <a:p xmlns:a="http://schemas.openxmlformats.org/drawingml/2006/main">
            <a:r>
              <a:t>External decision boundary: docs/evaluation/supervisor_contract_decision_form.md and docs/dissertation_evaluation_plan.md.</a:t>
            </a:r>
          </a:p>
          <a:p xmlns:a="http://schemas.openxmlformats.org/drawingml/2006/main">
            <a:r>
              <a:t>Source class: project status and unsigned decision materials only. This slide does not record supervisor, ethics, publication, production or real-road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b9d4f20cd4b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34d4e9a91a4395" /><Relationship Type="http://schemas.openxmlformats.org/officeDocument/2006/relationships/slideLayout" Target="/ppt/slideLayouts/slideLayout1.xml" Id="R4ecf81dddcdc4e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cf81dddcdc4e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f9d1b5abe4a43" /><Relationship Type="http://schemas.openxmlformats.org/officeDocument/2006/relationships/notesSlide" Target="/ppt/notesSlides/notesSlide1.xml" Id="R43a6382eec8143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c823d912a43a9" /><Relationship Type="http://schemas.openxmlformats.org/officeDocument/2006/relationships/notesSlide" Target="/ppt/notesSlides/notesSlide2.xml" Id="R3197de308a5345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be2837920423e" /><Relationship Type="http://schemas.openxmlformats.org/officeDocument/2006/relationships/chart" Target="/ppt/slides/charts/chart1.xml" Id="R9b6774aa14d44ef8" /><Relationship Type="http://schemas.openxmlformats.org/officeDocument/2006/relationships/notesSlide" Target="/ppt/notesSlides/notesSlide3.xml" Id="R5983676784e943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5bd1706654551" /><Relationship Type="http://schemas.openxmlformats.org/officeDocument/2006/relationships/notesSlide" Target="/ppt/notesSlides/notesSlide4.xml" Id="R7dadb07a8a704d7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latency (ms)</c:v>
          </c:tx>
          <c:spPr>
            <a:solidFill xmlns:a="http://schemas.openxmlformats.org/drawingml/2006/main">
              <a:srgbClr val="2359FF"/>
            </a:solidFill>
          </c:spPr>
          <c:cat>
            <c:strLit>
              <c:ptCount val="2"/>
              <c:pt idx="0">
                <c:v>Capacity 2.5</c:v>
              </c:pt>
              <c:pt idx="1">
                <c:v>Capacity 0.75</c:v>
              </c:pt>
            </c:strLit>
          </c:cat>
          <c:val>
            <c:numLit>
              <c:formatCode>General</c:formatCode>
              <c:ptCount val="2"/>
              <c:pt idx="0">
                <c:v>12027.5</c:v>
              </c:pt>
              <c:pt idx="1">
                <c:v>3716.6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C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4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A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F59BA-B1DD-4FD0-B82A-381041D3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SUPERVISOR CHECKPOINT · 2 AUGUST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3BBE2-0015-424D-8B6F-B7437C7B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0668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TrafficTwin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DC6C5-CB5E-4B93-9F71-AFA2FD80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95825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 verifiable what-if loop for traffic and edge-computing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091A0-CC52-4253-B994-95802A16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48400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Communication artifact · not supervisor approval or scientific evidence</a:t>
            </a:r>
          </a:p>
        </p:txBody>
      </p:sp>
    </p:spTree>
    <p:extLst>
      <p:ext uri="{BB962C8B-B14F-4D97-AF65-F5344CB8AC3E}">
        <p14:creationId xmlns:p14="http://schemas.microsoft.com/office/powerpoint/2010/main" val="902236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974B04-0F77-47F7-85C0-69162AF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One loop, two lenses—no silent promotion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E6E0D-EB7E-4846-82CB-98A6FE3A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TRAFFICTWIN · SUPERVISOR CHECKPOINT ·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BA155-B427-4DC2-8743-088CA020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The differentiator is the binding between a question, its execution boundary, its measurements and its claim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73B30-C3BC-4E19-B32D-41CEB140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47875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14C8B-0F08-47D3-A4C2-08606D02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47875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E7EA6-4767-430B-A5CB-6ECAF32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47875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359FF"/>
          </a:solidFill>
          <a:ln xmlns:a="http://schemas.openxmlformats.org/drawingml/2006/main" w="9525">
            <a:solidFill>
              <a:srgbClr val="2359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1B6F8-E48E-446B-8DB5-8C8F30E2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47875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19400" y="26479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9FF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86425" y="26479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9FF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53450" y="26479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9FF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>
            <a:off x="1604963" y="3248025"/>
            <a:ext cx="8601075" cy="228600"/>
          </a:xfrm>
          <a:prstGeom xmlns:a="http://schemas.openxmlformats.org/drawingml/2006/main" prst="bentConnector5">
            <a:avLst/>
          </a:prstGeom>
          <a:ln xmlns:a="http://schemas.openxmlformats.org/drawingml/2006/main" w="14288">
            <a:solidFill>
              <a:srgbClr val="5E6572"/>
            </a:solidFill>
            <a:prstDash val="dash"/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5152C-250E-4F54-9CA9-61BFCDEF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2383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E342B-EE93-4A4F-8794-64F80CDC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6700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Official feeds + supplied traces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341EF-40C7-4ED4-B0DA-E3E7E6E6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CANONICAL TWIN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BFBD4-083B-4CE8-9E92-DE183F1B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Provenance, units +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E668C-95DD-45EE-B985-6FA4949A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383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ASK “WHAT IF?”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290D3-B70D-4E63-9DB5-DD75EC00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6700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Bounded mutation + campaign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1A9D3-74DF-409F-9B14-42F0B7E7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383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EVALUATE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06643-C579-4830-8C58-699CF230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Metrics, receipts + claim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20062-C234-4B9E-B376-078A39E1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099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Feedback preserves refutations and gaps for the next observation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329C5-40AF-4532-9F70-C3D45A38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33825"/>
            <a:ext cx="5419725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90278-2870-4D0C-A641-4A290A2D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MOBILITY &amp; TRAFFIC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3A9BF-1FA9-4D76-8CE9-6654A74E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07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Map match, demand, time basis, calibration and comparison contracts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11405-3E01-4B62-9358-F31FE5DD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933825"/>
            <a:ext cx="542925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9E3C4-A334-4113-8B81-55B0E328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EDGE POLICY &amp; QoS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8B93D0-A950-4684-B857-77058304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07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Offload actions, resource ceilings, latency tails and service attainment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4E7C7-B196-4AD0-A428-246FFAFA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48275"/>
            <a:ext cx="11029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48B8E6-F5DE-40DA-AD8B-37DAAA51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62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LLM DRAFTING SITS OUTSIDE THE EVIDENCE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E85F57-E4F3-47CC-B25B-E2EFAF05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1062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It may propose or explain; only signed contracts can execute, and only admitted records can support a claim.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F7680-5371-4936-9519-9A47D73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Loop diagram · literature context and repository contracts, not a live-road deployment claim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CCC43-98A7-40BC-8FF6-2AC048F2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603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1DF68-64A6-4325-9858-AB098A2C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headline improves; service does not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F69B0-D9BC-4C6B-9E2C-AF7CF5FC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TRAFFICTWIN · SUPERVISOR CHECKPOINT ·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2B666-1E5E-48F0-8A15-6BDA13F0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538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59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Mean latency by configured per-vehicle RSU concurrency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42900" y="1857375"/>
          <a:ext xmlns:a="http://schemas.openxmlformats.org/drawingml/2006/main" cx="561975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6774aa14d44ef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E960D-B04D-454B-BFC7-9AC391FE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−8,310.9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5AF50-F3C7-4629-AE35-A941B06F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paired mean · n = 5 · every seed same 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9BEC5-28CB-4D29-9B21-2BC330B9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5622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79435-A83B-4997-B2D8-317E906D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FLAT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B134E-0082-4F38-A258-C86645DC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38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deadline attainment</a:t>
            </a:r>
          </a:p>
          <a:p xmlns:a="http://schemas.openxmlformats.org/drawingml/2006/main">
            <a:pPr algn="l">
              <a:def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No service-success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246B0-52AC-422E-BB29-6B8F65E0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5622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90F43-CCC1-4D2E-90A1-EA21475A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6230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8750F-512D-4B1E-AF7F-362ECC4C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81400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ACTION MISMATCHES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C4DCA-6EA5-4CDE-B3C8-A199588A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243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7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8,956,800 decisions</a:t>
            </a:r>
          </a:p>
          <a:p xmlns:a="http://schemas.openxmlformats.org/drawingml/2006/main">
            <a:pPr algn="l">
              <a:def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in each of 9 pilot pairs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E0ABE-01F0-47DB-871D-B9943614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5324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FACE1-53BC-4ABA-85FB-2F5E6E7E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490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TAIL EXPLAINS THE REVERSAL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3407F-751F-4904-A1F2-560644FF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3397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p50 stayed 44.3 ms; 97.9–99.4% of mass exceeded 1 s. Neither subgroup saw the fleet mean.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4645C-05AC-4CED-87EE-2F844782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Protocol-confirmed within signed project scope · modelled collapse hour · not causal or real-Manchester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42FD3-83DB-4E87-9B5D-4B12F1E8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6370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852AC-32F7-47A0-8E9A-6F707DD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Decide what happens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0771C-DAC5-4FBC-81A8-5EEE9408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TRAFFICTWIN · SUPERVISOR CHECKPOINT ·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0F9FA-A14C-4E43-89FD-1497114E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Current standing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42944-701D-4CC5-8D46-F57A5F80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28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IMPLEMENTED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A5135-C4F0-417A-831C-28E9F972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38425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Auditable instrument, bounded what-if lifecycle, decision-safety and read-only contract browsers.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EFDCE-1C6A-457D-A674-77C97309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528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7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BOUNDED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482D4-050E-4588-AC53-DD0D24E4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One signed central result; deviations, refutations and unavailable states remain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D1667-14D9-4ECD-AB23-87EA58DE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EB6D6-F11A-448C-9778-6FD518C4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86325"/>
            <a:ext cx="528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Signed multi-algorithm portfolio/benchmark, confirmatory mechanism work and Manchester Gate-D—only after their inputs exist.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283C1-D82D-4F68-848A-96BBDFC8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610225" cy="4371975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96366-0375-4855-9F56-1844828B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66900"/>
            <a:ext cx="485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DECISIONS REQUESTED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CC752-8B05-416F-8D31-6A08026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47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758BF-77A5-4069-8ACF-B243935D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Gate-D: review the mapping, calibration and comparison contracts—and name the responsible reviewer.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16A23-71A6-423C-839F-43CCCDE8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76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6478A-FB74-484A-8488-B392B3D7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57600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Approve the next subgroup × matched actor/preset design and its compute envelope before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94EDC-B783-468B-B00D-2F27D474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05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59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A1E7F-5F07-4E49-8DBB-DA03ECF2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Confirm the ethics-gated usability route and the final dissertation scope/reference convention.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D6FFE-4F4F-4276-BC3F-0D7B8245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Current ceiling: owner-approved candidate where stated · no supervisor, ethics or publication approval inferred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D83B1-1695-4073-BC99-12AC85AB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9602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5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0854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2026-08-02T14:39:01.3330000Z</dcterms:created>
  <dcterms:modified xsi:type="dcterms:W3CDTF">2026-08-02T14:39:01.3330000Z</dcterms:modified>
</coreProperties>
</file>